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0"/>
          </a:xfrm>
          <a:prstGeom prst="rect">
            <a:avLst/>
          </a:prstGeom>
          <a:solidFill>
            <a:srgbClr val="0D3B7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685800" y="658368"/>
            <a:ext cx="1051560" cy="1051560"/>
          </a:xfrm>
          <a:prstGeom prst="ellipse">
            <a:avLst/>
          </a:prstGeom>
          <a:solidFill>
            <a:srgbClr val="31C46C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965960" y="56692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Ekalivan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993392" y="13716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கற்போம் • கேட்போம் • பார்ப்போம் • பழகுவோம்   |   Learn • Listen • Visualize • Practice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Ekalivan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Textbook-to-Video Learning Platform</a:t>
            </a:r>
            <a:endParaRPr lang="en-US" i="1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4297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AI for India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773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4773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3.0.0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51760" y="51846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4NLPians (BITS Pilani – WILP Students)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56464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51760" y="5669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 M  ·  Harish Sankaranarayanan  ·  Saravanan Nallamuthu  ·  Shanmugasundaram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A2952"/>
              </a:gs>
              <a:gs pos="100000">
                <a:srgbClr val="0D3B7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56032"/>
            <a:ext cx="731520" cy="731520"/>
          </a:xfrm>
          <a:prstGeom prst="ellipse">
            <a:avLst/>
          </a:prstGeom>
          <a:gradFill rotWithShape="1">
            <a:gsLst>
              <a:gs pos="0">
                <a:srgbClr val="F48C2E"/>
              </a:gs>
              <a:gs pos="100000">
                <a:srgbClr val="31C46C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201168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Ekalivan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71323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CFE3FF"/>
                </a:solidFill>
                <a:latin typeface="Calibri"/>
              </a:rPr>
              <a:t>கற்போம் • கேட்போம் • பார்ப்போம் • பழகுவோம்   |   Learn • Listen • Visualize •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384048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FE3FF"/>
                </a:solidFill>
                <a:latin typeface="Calibri"/>
              </a:rPr>
              <a:t>Build in AI for India · Team 4NLPians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3B73"/>
                </a:solidFill>
                <a:latin typeface="Calibri"/>
              </a:rPr>
              <a:t>Democratizing quality education through AI — every child, every language, every classroom.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01952"/>
            <a:ext cx="539496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901952"/>
            <a:ext cx="82296" cy="1627632"/>
          </a:xfrm>
          <a:prstGeom prst="rect">
            <a:avLst/>
          </a:prstGeom>
          <a:solidFill>
            <a:srgbClr val="F2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039112"/>
            <a:ext cx="4846320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F25B5B"/>
                </a:solidFill>
                <a:latin typeface="Calibri"/>
              </a:rPr>
              <a:t>The Problem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Government-school students juggle a home language and English scientific vocabulary with no bridge.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Printed textbooks don't explain visually; animated lessons are too slow and costly to hand-produce at scale.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48456"/>
            <a:ext cx="539496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3648456"/>
            <a:ext cx="82296" cy="1627632"/>
          </a:xfrm>
          <a:prstGeom prst="rect">
            <a:avLst/>
          </a:prstGeom>
          <a:solidFill>
            <a:srgbClr val="31C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785616"/>
            <a:ext cx="4846320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31C46C"/>
                </a:solidFill>
                <a:latin typeface="Calibri"/>
              </a:rPr>
              <a:t>The Solution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AI converts a static textbook chapter into a short, localized, animated video lesson — once per chapter.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That video streams free to every student thereafter — no AI cost at playback, ever.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394960"/>
            <a:ext cx="5394960" cy="1005840"/>
          </a:xfrm>
          <a:prstGeom prst="roundRect">
            <a:avLst>
              <a:gd name="adj" fmla="val 12000"/>
            </a:avLst>
          </a:prstGeom>
          <a:solidFill>
            <a:srgbClr val="0D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5504688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Create once → serve forever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FE3FF"/>
                </a:solidFill>
                <a:latin typeface="Calibri"/>
              </a:rPr>
              <a:t>•  Cost scales with chapters, not students — viable for underfunded public schools.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883664"/>
            <a:ext cx="5532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D3B73"/>
                </a:solidFill>
                <a:latin typeface="Calibri"/>
              </a:rPr>
              <a:t>How it works — one chapter, five stages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286000"/>
            <a:ext cx="1018641" cy="1051560"/>
          </a:xfrm>
          <a:prstGeom prst="roundRect">
            <a:avLst>
              <a:gd name="adj" fmla="val 14000"/>
            </a:avLst>
          </a:prstGeom>
          <a:solidFill>
            <a:srgbClr val="144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45352" y="2377440"/>
            <a:ext cx="87233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Intake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  PDF/Text → clean Markdown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2553" y="2615184"/>
            <a:ext cx="146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B84"/>
                </a:solidFill>
                <a:latin typeface="Calibr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00569" y="2286000"/>
            <a:ext cx="1018641" cy="1051560"/>
          </a:xfrm>
          <a:prstGeom prst="roundRect">
            <a:avLst>
              <a:gd name="adj" fmla="val 14000"/>
            </a:avLst>
          </a:prstGeom>
          <a:solidFill>
            <a:srgbClr val="7E3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73721" y="2377440"/>
            <a:ext cx="872337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Pedagogy</a:t>
            </a:r>
          </a:p>
          <a:p>
            <a:pPr algn="ctr">
              <a:spcAft>
                <a:spcPts val="0"/>
              </a:spcAft>
            </a:pPr>
            <a:r>
              <a:rPr sz="900" b="0" dirty="0">
                <a:solidFill>
                  <a:srgbClr val="FFFFFF"/>
                </a:solidFill>
                <a:latin typeface="Calibri"/>
              </a:rPr>
              <a:t>script + local analogies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0923" y="2615184"/>
            <a:ext cx="146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B84"/>
                </a:solidFill>
                <a:latin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28939" y="2286000"/>
            <a:ext cx="1018641" cy="1051560"/>
          </a:xfrm>
          <a:prstGeom prst="roundRect">
            <a:avLst>
              <a:gd name="adj" fmla="val 14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2091" y="2377440"/>
            <a:ext cx="87233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Storyboard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  Scene beats + timing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9292" y="2615184"/>
            <a:ext cx="146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B84"/>
                </a:solidFill>
                <a:latin typeface="Calibr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57308" y="2286000"/>
            <a:ext cx="1018641" cy="1051560"/>
          </a:xfrm>
          <a:prstGeom prst="roundRect">
            <a:avLst>
              <a:gd name="adj" fmla="val 14000"/>
            </a:avLst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30460" y="2377440"/>
            <a:ext cx="87233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Narrate</a:t>
            </a:r>
          </a:p>
          <a:p>
            <a:pPr algn="ctr">
              <a:spcAft>
                <a:spcPts val="0"/>
              </a:spcAft>
            </a:pPr>
            <a:r>
              <a:rPr sz="900" b="0" dirty="0">
                <a:solidFill>
                  <a:srgbClr val="FFFFFF"/>
                </a:solidFill>
                <a:latin typeface="Calibri"/>
              </a:rPr>
              <a:t>  Voice + word-level captions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57662" y="2615184"/>
            <a:ext cx="146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B84"/>
                </a:solidFill>
                <a:latin typeface="Calib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85678" y="2286000"/>
            <a:ext cx="1018641" cy="1051560"/>
          </a:xfrm>
          <a:prstGeom prst="roundRect">
            <a:avLst>
              <a:gd name="adj" fmla="val 14000"/>
            </a:avLst>
          </a:prstGeom>
          <a:solidFill>
            <a:srgbClr val="31C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758830" y="2377440"/>
            <a:ext cx="87233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Assemble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  Final streaming-ready MP4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520440"/>
            <a:ext cx="5532120" cy="2761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3703320"/>
            <a:ext cx="498348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 dirty="0">
                <a:solidFill>
                  <a:srgbClr val="0D3B73"/>
                </a:solidFill>
                <a:latin typeface="Calibri"/>
              </a:rPr>
              <a:t>Key features</a:t>
            </a:r>
          </a:p>
          <a:p>
            <a:pPr algn="l">
              <a:spcAft>
                <a:spcPts val="700"/>
              </a:spcAft>
            </a:pPr>
            <a:r>
              <a:rPr sz="1200" b="0" dirty="0">
                <a:solidFill>
                  <a:srgbClr val="0F172A"/>
                </a:solidFill>
                <a:latin typeface="Calibri"/>
              </a:rPr>
              <a:t>•  Multilingual, curriculum-aligned video lessons generated from any textbook chapter</a:t>
            </a:r>
          </a:p>
          <a:p>
            <a:pPr algn="l">
              <a:spcAft>
                <a:spcPts val="700"/>
              </a:spcAft>
            </a:pPr>
            <a:r>
              <a:rPr sz="1200" b="0" dirty="0">
                <a:solidFill>
                  <a:srgbClr val="0F172A"/>
                </a:solidFill>
                <a:latin typeface="Calibri"/>
              </a:rPr>
              <a:t>•  Child-first UI: large color-coded cards, high-contrast type, persistent readable captions</a:t>
            </a:r>
          </a:p>
          <a:p>
            <a:pPr algn="l">
              <a:spcAft>
                <a:spcPts val="700"/>
              </a:spcAft>
            </a:pPr>
            <a:r>
              <a:rPr sz="1200" b="0" dirty="0">
                <a:solidFill>
                  <a:srgbClr val="0F172A"/>
                </a:solidFill>
                <a:latin typeface="Calibri"/>
              </a:rPr>
              <a:t>•  Plain-language live progress (“Writing Script…”) instead of technical status codes</a:t>
            </a:r>
          </a:p>
          <a:p>
            <a:pPr algn="l">
              <a:spcAft>
                <a:spcPts val="700"/>
              </a:spcAft>
            </a:pPr>
            <a:r>
              <a:rPr sz="1200" b="0" dirty="0">
                <a:solidFill>
                  <a:srgbClr val="0F172A"/>
                </a:solidFill>
                <a:latin typeface="Calibri"/>
              </a:rPr>
              <a:t>•  Deterministic pipeline — same chapter always yields a consistent, reviewable video</a:t>
            </a:r>
          </a:p>
          <a:p>
            <a:pPr algn="l">
              <a:spcAft>
                <a:spcPts val="700"/>
              </a:spcAft>
            </a:pPr>
            <a:r>
              <a:rPr sz="1200" b="0" dirty="0">
                <a:solidFill>
                  <a:srgbClr val="0F172A"/>
                </a:solidFill>
                <a:latin typeface="Calibri"/>
              </a:rPr>
              <a:t>•  Offline-friendly playback: rendered video is cached and streams over the 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111556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dirty="0" err="1">
                <a:solidFill>
                  <a:srgbClr val="5B6B84"/>
                </a:solidFill>
                <a:latin typeface="Calibri"/>
              </a:rPr>
              <a:t>Ekalivan</a:t>
            </a:r>
            <a:r>
              <a:rPr sz="950" b="0" i="0">
                <a:solidFill>
                  <a:srgbClr val="5B6B84"/>
                </a:solidFill>
                <a:latin typeface="Calibri"/>
              </a:rPr>
              <a:t>  </a:t>
            </a:r>
            <a:endParaRPr sz="950" b="0" i="0" dirty="0">
              <a:solidFill>
                <a:srgbClr val="5B6B8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0A2952"/>
              </a:gs>
              <a:gs pos="100000">
                <a:srgbClr val="0D3B7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53035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FE3FF"/>
                </a:solidFill>
                <a:latin typeface="Calibri"/>
              </a:rPr>
              <a:t>Nine layers, one linear AI pipeline, deterministic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56032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FE3FF"/>
                </a:solidFill>
                <a:latin typeface="Calibri"/>
              </a:rPr>
              <a:t>Ekalivan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D3B73"/>
                </a:solidFill>
                <a:latin typeface="Calibri"/>
              </a:rPr>
              <a:t>Layered system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90472"/>
            <a:ext cx="146304" cy="324612"/>
          </a:xfrm>
          <a:prstGeom prst="rect">
            <a:avLst/>
          </a:prstGeom>
          <a:solidFill>
            <a:srgbClr val="144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9224" y="1490472"/>
            <a:ext cx="4882896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417320" cy="288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F172A"/>
                </a:solidFill>
                <a:latin typeface="Calibri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508760"/>
            <a:ext cx="3154680" cy="288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B84"/>
                </a:solidFill>
                <a:latin typeface="Calibri"/>
              </a:rPr>
              <a:t>Flutter client — renders UI, collects input, listens for progress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69948"/>
            <a:ext cx="146304" cy="324612"/>
          </a:xfrm>
          <a:prstGeom prst="rect">
            <a:avLst/>
          </a:prstGeom>
          <a:solidFill>
            <a:srgbClr val="144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9224" y="1869948"/>
            <a:ext cx="4882896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1888236"/>
            <a:ext cx="1417320" cy="288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F172A"/>
                </a:solidFill>
                <a:latin typeface="Calibri"/>
              </a:rPr>
              <a:t>API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888236"/>
            <a:ext cx="3154680" cy="288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B84"/>
                </a:solidFill>
                <a:latin typeface="Calibri"/>
              </a:rPr>
              <a:t>FastAPI — validates requests, hands off to background jobs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49424"/>
            <a:ext cx="146304" cy="324612"/>
          </a:xfrm>
          <a:prstGeom prst="rect">
            <a:avLst/>
          </a:prstGeom>
          <a:solidFill>
            <a:srgbClr val="7E3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9224" y="2249424"/>
            <a:ext cx="4882896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2267712"/>
            <a:ext cx="1417320" cy="288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F172A"/>
                </a:solidFill>
                <a:latin typeface="Calibri"/>
              </a:rPr>
              <a:t>AI Orchestration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267712"/>
            <a:ext cx="3154680" cy="288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B84"/>
                </a:solidFill>
                <a:latin typeface="Calibri"/>
              </a:rPr>
              <a:t>LangGraph — one shared state, fixed pipeline order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628900"/>
            <a:ext cx="146304" cy="324612"/>
          </a:xfrm>
          <a:prstGeom prst="rect">
            <a:avLst/>
          </a:prstGeom>
          <a:solidFill>
            <a:srgbClr val="7E3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9224" y="2628900"/>
            <a:ext cx="4882896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2647188"/>
            <a:ext cx="1417320" cy="288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F172A"/>
                </a:solidFill>
                <a:latin typeface="Calibri"/>
              </a:rPr>
              <a:t>AI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2647188"/>
            <a:ext cx="3154680" cy="288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B84"/>
                </a:solidFill>
                <a:latin typeface="Calibri"/>
              </a:rPr>
              <a:t>Each agent makes one decision, calls its Skills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08376"/>
            <a:ext cx="146304" cy="32461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9224" y="3008376"/>
            <a:ext cx="4882896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026664"/>
            <a:ext cx="1417320" cy="288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F172A"/>
                </a:solidFill>
                <a:latin typeface="Calibri"/>
              </a:rPr>
              <a:t>Skills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026664"/>
            <a:ext cx="3154680" cy="288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B84"/>
                </a:solidFill>
                <a:latin typeface="Calibri"/>
              </a:rPr>
              <a:t>Prompt assembly, response parsing, validation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387851"/>
            <a:ext cx="146304" cy="32461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9224" y="3387851"/>
            <a:ext cx="4882896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3406139"/>
            <a:ext cx="1417320" cy="288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F172A"/>
                </a:solidFill>
                <a:latin typeface="Calibri"/>
              </a:rPr>
              <a:t>LLM Provider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3478598"/>
            <a:ext cx="3154680" cy="1431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 dirty="0">
                <a:solidFill>
                  <a:srgbClr val="5B6B84"/>
                </a:solidFill>
                <a:latin typeface="Calibri"/>
              </a:rPr>
              <a:t>One interface to any model (local </a:t>
            </a:r>
            <a:r>
              <a:rPr sz="930" b="0" i="0" dirty="0" err="1">
                <a:solidFill>
                  <a:srgbClr val="5B6B84"/>
                </a:solidFill>
                <a:latin typeface="Calibri"/>
              </a:rPr>
              <a:t>Ollama</a:t>
            </a:r>
            <a:r>
              <a:rPr lang="en-CA" sz="930" b="0" i="0" dirty="0">
                <a:solidFill>
                  <a:srgbClr val="5B6B84"/>
                </a:solidFill>
                <a:latin typeface="Calibri"/>
              </a:rPr>
              <a:t>-Gemma4</a:t>
            </a:r>
            <a:r>
              <a:rPr sz="930" b="0" i="0" dirty="0">
                <a:solidFill>
                  <a:srgbClr val="5B6B84"/>
                </a:solidFill>
                <a:latin typeface="Calibri"/>
              </a:rPr>
              <a:t>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67327"/>
            <a:ext cx="146304" cy="324612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9224" y="3767327"/>
            <a:ext cx="4882896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3785615"/>
            <a:ext cx="1417320" cy="288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F172A"/>
                </a:solidFill>
                <a:latin typeface="Calibri"/>
              </a:rPr>
              <a:t>MCP Execution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3785615"/>
            <a:ext cx="3154680" cy="288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B84"/>
                </a:solidFill>
                <a:latin typeface="Calibri"/>
              </a:rPr>
              <a:t>One async contract wrapping every external tool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146804"/>
            <a:ext cx="146304" cy="324612"/>
          </a:xfrm>
          <a:prstGeom prst="rect">
            <a:avLst/>
          </a:prstGeom>
          <a:solidFill>
            <a:srgbClr val="5B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9224" y="4146804"/>
            <a:ext cx="4882896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4165091"/>
            <a:ext cx="1417320" cy="288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F172A"/>
                </a:solidFill>
                <a:latin typeface="Calibri"/>
              </a:rPr>
              <a:t>Infrastructure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4165091"/>
            <a:ext cx="3154680" cy="288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B84"/>
                </a:solidFill>
                <a:latin typeface="Calibri"/>
              </a:rPr>
              <a:t>Disk, subprocess, and network calls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526279"/>
            <a:ext cx="146304" cy="324612"/>
          </a:xfrm>
          <a:prstGeom prst="rect">
            <a:avLst/>
          </a:prstGeom>
          <a:solidFill>
            <a:srgbClr val="31C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9224" y="4526279"/>
            <a:ext cx="4882896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4544567"/>
            <a:ext cx="1417320" cy="288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F172A"/>
                </a:solidFill>
                <a:latin typeface="Calibri"/>
              </a:rPr>
              <a:t>Output Asset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4544567"/>
            <a:ext cx="3154680" cy="288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B84"/>
                </a:solidFill>
                <a:latin typeface="Calibri"/>
              </a:rPr>
              <a:t>Markdown, subtitles, and the final video file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6440" y="1143000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D3B73"/>
                </a:solidFill>
                <a:latin typeface="Calibri"/>
              </a:rPr>
              <a:t>Generation pipeline (runs once per chapter)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06440" y="1490472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144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806440" y="1490472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42631" y="1490472"/>
            <a:ext cx="436168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98079" y="1490472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0F172A"/>
                </a:solidFill>
                <a:latin typeface="Calibri"/>
              </a:rPr>
              <a:t>PDF/text → clean Markdown (</a:t>
            </a:r>
            <a:r>
              <a:rPr sz="1000" b="0" i="0" dirty="0" err="1">
                <a:solidFill>
                  <a:srgbClr val="0F172A"/>
                </a:solidFill>
                <a:latin typeface="Calibri"/>
              </a:rPr>
              <a:t>MarkItDown</a:t>
            </a:r>
            <a:r>
              <a:rPr sz="1000" b="0" i="0" dirty="0">
                <a:solidFill>
                  <a:srgbClr val="0F172A"/>
                </a:solidFill>
                <a:latin typeface="Calibri"/>
              </a:rPr>
              <a:t>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06440" y="2020824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7E3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806440" y="2020824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Pedagogy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42631" y="2020824"/>
            <a:ext cx="436168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98079" y="2172480"/>
            <a:ext cx="40690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0F172A"/>
                </a:solidFill>
                <a:latin typeface="Calibri"/>
              </a:rPr>
              <a:t>Curriculum → Lesson Plan → Teacher rewrite (LLM via </a:t>
            </a:r>
            <a:r>
              <a:rPr sz="1000" b="0" i="0" dirty="0" err="1">
                <a:solidFill>
                  <a:srgbClr val="0F172A"/>
                </a:solidFill>
                <a:latin typeface="Calibri"/>
              </a:rPr>
              <a:t>Ollama</a:t>
            </a:r>
            <a:r>
              <a:rPr lang="en-CA" sz="1000" b="0" i="0" dirty="0">
                <a:solidFill>
                  <a:srgbClr val="0F172A"/>
                </a:solidFill>
                <a:latin typeface="Calibri"/>
              </a:rPr>
              <a:t>-Gemma4</a:t>
            </a:r>
            <a:r>
              <a:rPr sz="1000" b="0" i="0" dirty="0">
                <a:solidFill>
                  <a:srgbClr val="0F172A"/>
                </a:solidFill>
                <a:latin typeface="Calibri"/>
              </a:rPr>
              <a:t>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06440" y="2551176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806440" y="2551176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Storyboarding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42631" y="2551176"/>
            <a:ext cx="436168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98079" y="2551176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</a:rPr>
              <a:t>Narration → timed scene beats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06440" y="3081527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806440" y="3081527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Audio &amp; Sync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42631" y="3081527"/>
            <a:ext cx="436168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98079" y="3233183"/>
            <a:ext cx="40690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0F172A"/>
                </a:solidFill>
                <a:latin typeface="Calibri"/>
              </a:rPr>
              <a:t>Speech synthesis + word-level timestamps (</a:t>
            </a:r>
            <a:r>
              <a:rPr lang="en-CA" sz="1000" b="0" i="0" dirty="0">
                <a:solidFill>
                  <a:srgbClr val="0F172A"/>
                </a:solidFill>
                <a:latin typeface="Calibri"/>
              </a:rPr>
              <a:t>Gnani AI</a:t>
            </a:r>
            <a:r>
              <a:rPr sz="1000" b="0" i="0" dirty="0">
                <a:solidFill>
                  <a:srgbClr val="0F172A"/>
                </a:solidFill>
                <a:latin typeface="Calibri"/>
              </a:rPr>
              <a:t> TTS)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806440" y="3611879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31C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806440" y="3611879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Assembly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2631" y="3611879"/>
            <a:ext cx="436168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498079" y="3611879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Calibri"/>
              </a:rPr>
              <a:t>Composite video/audio/subtitles → streaming MP4 (MoviePy + FFmpeg)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06440" y="4251959"/>
            <a:ext cx="5897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D3B73"/>
                </a:solidFill>
                <a:latin typeface="Calibri"/>
              </a:rPr>
              <a:t>Core technology choices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06440" y="4562855"/>
            <a:ext cx="140589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879592" y="4617719"/>
            <a:ext cx="125958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0D3B73"/>
                </a:solidFill>
                <a:latin typeface="Calibri"/>
              </a:rPr>
              <a:t>Flutter + Riverpod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5B6B84"/>
                </a:solidFill>
                <a:latin typeface="Calibri"/>
              </a:rPr>
              <a:t>  Frontend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03770" y="4562855"/>
            <a:ext cx="140589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76921" y="4617719"/>
            <a:ext cx="125958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0D3B73"/>
                </a:solidFill>
                <a:latin typeface="Calibri"/>
              </a:rPr>
              <a:t>FastAPI (Py 3.12)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5B6B84"/>
                </a:solidFill>
                <a:latin typeface="Calibri"/>
              </a:rPr>
              <a:t>  Backend API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801100" y="4562855"/>
            <a:ext cx="140589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874252" y="4617719"/>
            <a:ext cx="125958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0D3B73"/>
                </a:solidFill>
                <a:latin typeface="Calibri"/>
              </a:rPr>
              <a:t>LangGraph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5B6B84"/>
                </a:solidFill>
                <a:latin typeface="Calibri"/>
              </a:rPr>
              <a:t>  AI Orchestration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298430" y="4562855"/>
            <a:ext cx="140589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371582" y="4701407"/>
            <a:ext cx="1259586" cy="2898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 dirty="0" err="1">
                <a:solidFill>
                  <a:srgbClr val="0D3B73"/>
                </a:solidFill>
                <a:latin typeface="Calibri"/>
              </a:rPr>
              <a:t>Ollama</a:t>
            </a:r>
            <a:r>
              <a:rPr sz="1000" b="1" i="0" dirty="0">
                <a:solidFill>
                  <a:srgbClr val="0D3B73"/>
                </a:solidFill>
                <a:latin typeface="Calibri"/>
              </a:rPr>
              <a:t> (LLM)</a:t>
            </a:r>
            <a:r>
              <a:rPr lang="en-CA" sz="1000" b="1" i="0" dirty="0">
                <a:solidFill>
                  <a:srgbClr val="0D3B73"/>
                </a:solidFill>
                <a:latin typeface="Calibri"/>
              </a:rPr>
              <a:t>-Gemma4</a:t>
            </a:r>
            <a:endParaRPr sz="1000" b="1" i="0" dirty="0">
              <a:solidFill>
                <a:srgbClr val="0D3B73"/>
              </a:solidFill>
              <a:latin typeface="Calibri"/>
            </a:endParaRPr>
          </a:p>
          <a:p>
            <a:pPr algn="ctr">
              <a:spcAft>
                <a:spcPts val="0"/>
              </a:spcAft>
            </a:pPr>
            <a:r>
              <a:rPr sz="800" b="0" dirty="0">
                <a:solidFill>
                  <a:srgbClr val="5B6B84"/>
                </a:solidFill>
                <a:latin typeface="Calibri"/>
              </a:rPr>
              <a:t>  Local inference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806440" y="5221223"/>
            <a:ext cx="140589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879592" y="5359775"/>
            <a:ext cx="1259586" cy="2898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CA" sz="1000" b="1" i="0" dirty="0">
                <a:solidFill>
                  <a:srgbClr val="0D3B73"/>
                </a:solidFill>
                <a:latin typeface="Calibri"/>
              </a:rPr>
              <a:t>Edge </a:t>
            </a:r>
            <a:r>
              <a:rPr sz="1000" b="1" i="0" dirty="0">
                <a:solidFill>
                  <a:srgbClr val="0D3B73"/>
                </a:solidFill>
                <a:latin typeface="Calibri"/>
              </a:rPr>
              <a:t>TTS</a:t>
            </a:r>
            <a:r>
              <a:rPr lang="en-CA" sz="1000" b="1" i="0" dirty="0">
                <a:solidFill>
                  <a:srgbClr val="0D3B73"/>
                </a:solidFill>
                <a:latin typeface="Calibri"/>
              </a:rPr>
              <a:t> (Gnani AI)</a:t>
            </a:r>
            <a:endParaRPr sz="1000" b="1" i="0" dirty="0">
              <a:solidFill>
                <a:srgbClr val="0D3B73"/>
              </a:solidFill>
              <a:latin typeface="Calibri"/>
            </a:endParaRPr>
          </a:p>
          <a:p>
            <a:pPr algn="ctr">
              <a:spcAft>
                <a:spcPts val="0"/>
              </a:spcAft>
            </a:pPr>
            <a:r>
              <a:rPr sz="800" b="0" dirty="0">
                <a:solidFill>
                  <a:srgbClr val="5B6B84"/>
                </a:solidFill>
                <a:latin typeface="Calibri"/>
              </a:rPr>
              <a:t>  Narration audio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03770" y="5221223"/>
            <a:ext cx="140589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376920" y="5359775"/>
            <a:ext cx="1332739" cy="2898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 dirty="0" err="1">
                <a:solidFill>
                  <a:srgbClr val="0D3B73"/>
                </a:solidFill>
                <a:latin typeface="Calibri"/>
              </a:rPr>
              <a:t>MoviePy</a:t>
            </a:r>
            <a:r>
              <a:rPr sz="1000" b="1" i="0" dirty="0">
                <a:solidFill>
                  <a:srgbClr val="0D3B73"/>
                </a:solidFill>
                <a:latin typeface="Calibri"/>
              </a:rPr>
              <a:t> + F</a:t>
            </a:r>
            <a:r>
              <a:rPr lang="en-CA" sz="1000" b="1" i="0" dirty="0">
                <a:solidFill>
                  <a:srgbClr val="0D3B73"/>
                </a:solidFill>
                <a:latin typeface="Calibri"/>
              </a:rPr>
              <a:t>f</a:t>
            </a:r>
            <a:r>
              <a:rPr sz="1000" b="1" i="0" dirty="0">
                <a:solidFill>
                  <a:srgbClr val="0D3B73"/>
                </a:solidFill>
                <a:latin typeface="Calibri"/>
              </a:rPr>
              <a:t>mpeg</a:t>
            </a:r>
            <a:r>
              <a:rPr lang="en-CA" sz="1000" b="1" i="0" dirty="0">
                <a:solidFill>
                  <a:srgbClr val="0D3B73"/>
                </a:solidFill>
                <a:latin typeface="Calibri"/>
              </a:rPr>
              <a:t>(Veo3)</a:t>
            </a:r>
            <a:endParaRPr sz="1000" b="1" i="0" dirty="0">
              <a:solidFill>
                <a:srgbClr val="0D3B73"/>
              </a:solidFill>
              <a:latin typeface="Calibri"/>
            </a:endParaRPr>
          </a:p>
          <a:p>
            <a:pPr algn="ctr">
              <a:spcAft>
                <a:spcPts val="0"/>
              </a:spcAft>
            </a:pPr>
            <a:r>
              <a:rPr sz="800" b="0" dirty="0">
                <a:solidFill>
                  <a:srgbClr val="5B6B84"/>
                </a:solidFill>
                <a:latin typeface="Calibri"/>
              </a:rPr>
              <a:t>  Rendering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801100" y="5221223"/>
            <a:ext cx="140589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874252" y="5276087"/>
            <a:ext cx="125958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0D3B73"/>
                </a:solidFill>
                <a:latin typeface="Calibri"/>
              </a:rPr>
              <a:t>PostgreSQL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5B6B84"/>
                </a:solidFill>
                <a:latin typeface="Calibri"/>
              </a:rPr>
              <a:t>  Persistence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298430" y="5221223"/>
            <a:ext cx="140589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9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371582" y="5276087"/>
            <a:ext cx="125958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0D3B73"/>
                </a:solidFill>
                <a:latin typeface="Calibri"/>
              </a:rPr>
              <a:t>Docker Compose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5B6B84"/>
                </a:solidFill>
                <a:latin typeface="Calibri"/>
              </a:rPr>
              <a:t>  Deployment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6537960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 dirty="0">
                <a:solidFill>
                  <a:srgbClr val="5B6B84"/>
                </a:solidFill>
                <a:latin typeface="Calibri"/>
              </a:rPr>
              <a:t>Deterministic, no-agent-loop pipeline — AI cost paid once at creation, never at playback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552</Words>
  <Application>Microsoft Office PowerPoint</Application>
  <PresentationFormat>Widescreen</PresentationFormat>
  <Paragraphs>99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saravanan nallamuthu</cp:lastModifiedBy>
  <cp:revision>14</cp:revision>
  <dcterms:created xsi:type="dcterms:W3CDTF">2013-01-27T09:14:16Z</dcterms:created>
  <dcterms:modified xsi:type="dcterms:W3CDTF">2026-07-19T14:32:24Z</dcterms:modified>
  <cp:category/>
</cp:coreProperties>
</file>